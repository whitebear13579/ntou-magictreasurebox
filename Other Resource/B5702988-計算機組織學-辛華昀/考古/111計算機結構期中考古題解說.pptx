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9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5D624-6DC6-48DF-AD68-0C3480AC5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AE04F45-3D14-43D6-857C-32ADB08E5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FA3AE2-60DF-47E9-BCDB-F3CEA6976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C3D2-A175-416C-AD25-43218C45E790}" type="datetimeFigureOut">
              <a:rPr lang="zh-TW" altLang="en-US" smtClean="0"/>
              <a:t>2023/10/30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2CF367-5362-4B98-B614-11560191B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A9E30E0-F7FC-4373-95D7-CEBA924C0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FA36-AF9A-432F-A8CF-07A83A5A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987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6F9A36-2582-4959-BAE6-8258C4093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FD323F-09AC-48F0-9D4E-F72D771BE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996A92-63FA-4608-8F8B-8F0635F1E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C3D2-A175-416C-AD25-43218C45E790}" type="datetimeFigureOut">
              <a:rPr lang="zh-TW" altLang="en-US" smtClean="0"/>
              <a:t>2023/10/30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015F1F-E9FC-409B-9370-AA9214CCF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B7C43D-CA5D-4D87-8008-C5A888D6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FA36-AF9A-432F-A8CF-07A83A5A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4513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C6F0A5-3419-4D7F-88F1-5ECC2C6DB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7E44C7F-4404-4B52-910A-C704A5ED7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F04FAD-3A4A-4B2C-A0D8-9FCFAD06D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C3D2-A175-416C-AD25-43218C45E790}" type="datetimeFigureOut">
              <a:rPr lang="zh-TW" altLang="en-US" smtClean="0"/>
              <a:t>2023/10/30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4A39E9-DE0D-4343-A0D8-4D48FFB05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8E5997-7A49-4B7A-B9AE-17DDEDA94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FA36-AF9A-432F-A8CF-07A83A5A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7481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6A3DB2-A362-41FA-938C-A3F79F0E2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5190F8-EEE1-4E93-A2BF-62D22DB3C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71819E-19E0-4CDB-9724-1876B3055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C4810DA-3A97-4C63-9C37-1B02ACCA7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C3D2-A175-416C-AD25-43218C45E790}" type="datetimeFigureOut">
              <a:rPr lang="zh-TW" altLang="en-US" smtClean="0"/>
              <a:t>2023/10/30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3FBA19E-47AD-46D8-AEBD-440B03483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D559030-53CF-4215-AEDA-3E8B812F6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FA36-AF9A-432F-A8CF-07A83A5A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3180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071112-1A1D-4F52-9A1C-20F423ACA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CD7C7AB-AEBB-4B0F-9DDA-F4CB71F14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2B69DE5-A1D3-4C3A-B442-B9BEEC97B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BAA64AA-A43D-4C67-B40E-EEC4D63E2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2C938F4-77D2-4C22-A9C8-259DB07C17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3C46A59-4A2B-4505-A46B-B10EFD2C1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C3D2-A175-416C-AD25-43218C45E790}" type="datetimeFigureOut">
              <a:rPr lang="zh-TW" altLang="en-US" smtClean="0"/>
              <a:t>2023/10/30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79CF22-5A3A-44E2-B25D-A11685D11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48A0D8E-F17B-4841-B36E-9B8E22C1C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FA36-AF9A-432F-A8CF-07A83A5A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476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97C053-ED44-4422-883F-B1A0CFA3D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12EF390-BECD-4C3F-A9F8-53C9018A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C3D2-A175-416C-AD25-43218C45E790}" type="datetimeFigureOut">
              <a:rPr lang="zh-TW" altLang="en-US" smtClean="0"/>
              <a:t>2023/10/30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F358EEA-CE1A-46D6-93CD-66B90B77C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87D2DB2-B25D-42A8-BCE0-9FB2289A9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FA36-AF9A-432F-A8CF-07A83A5A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5336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91EDC76-D246-4078-936D-F1AFFA9D9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C3D2-A175-416C-AD25-43218C45E790}" type="datetimeFigureOut">
              <a:rPr lang="zh-TW" altLang="en-US" smtClean="0"/>
              <a:t>2023/10/30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CE9435A-DA9F-4F29-A54A-12F2821C3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B17ACE-4C89-4914-AFCF-632FEEC11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FA36-AF9A-432F-A8CF-07A83A5A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994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022FFD-B66C-4A79-9FBF-627BE49F7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63112E-722F-44FC-9E2E-917474079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190A30B-BB6C-470E-9739-558518DDB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FB7516F-66D5-481B-B783-CA8C26B87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C3D2-A175-416C-AD25-43218C45E790}" type="datetimeFigureOut">
              <a:rPr lang="zh-TW" altLang="en-US" smtClean="0"/>
              <a:t>2023/10/30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88CB1E-1117-49F7-867F-BD9C91FDC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EB60391-8060-4643-91C1-090028592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FA36-AF9A-432F-A8CF-07A83A5A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4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F9F3B9-9321-4707-BF3D-F13BBA17E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DCB0C00-A49F-4319-A44B-52691FB827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F2A02D4-AC2E-46DD-9003-9C2508084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B92AD8-4493-4E91-892C-90F43D993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C3D2-A175-416C-AD25-43218C45E790}" type="datetimeFigureOut">
              <a:rPr lang="zh-TW" altLang="en-US" smtClean="0"/>
              <a:t>2023/10/30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0EEF67-3FEB-43F9-B300-D7719D411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8FC1645-020E-4854-ABEA-2B767B6A1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FA36-AF9A-432F-A8CF-07A83A5A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859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4E2D76-8285-4E3C-96B5-45DE919CD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3665FC3-0CDD-4EBC-8971-1D36800E9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97AA30-44A2-4882-AB2E-F98AE0FD0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C3D2-A175-416C-AD25-43218C45E790}" type="datetimeFigureOut">
              <a:rPr lang="zh-TW" altLang="en-US" smtClean="0"/>
              <a:t>2023/10/30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DECFF6-F39D-4B0D-9882-94B78DDFF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6F4AB9-F2E9-4917-8FFA-ACE57FC7C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FA36-AF9A-432F-A8CF-07A83A5A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3615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7018367-9241-43EF-AD71-76305C719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AF48E62-96C2-469D-A35B-7380A202B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CB4768-2610-4F56-8DCC-1A62823C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C3D2-A175-416C-AD25-43218C45E790}" type="datetimeFigureOut">
              <a:rPr lang="zh-TW" altLang="en-US" smtClean="0"/>
              <a:t>2023/10/30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AD37F5-7518-478D-B02B-5015F7ED9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C5463F-F61F-49CB-9524-956B3D433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FA36-AF9A-432F-A8CF-07A83A5A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897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C808A90-7487-44AC-96D2-873E1268C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32478C-AF85-4AFD-BC1B-D69C355AB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399F99-A1B8-4E98-9B6F-465478A96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7C3D2-A175-416C-AD25-43218C45E790}" type="datetimeFigureOut">
              <a:rPr lang="zh-TW" altLang="en-US" smtClean="0"/>
              <a:t>2023/10/30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04364C-E652-435A-BE6E-CED8DDD518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ADDB29-BB52-4619-ABD3-13D0751FD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2FA36-AF9A-432F-A8CF-07A83A5A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6169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.vsd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FA065D2-3C14-4750-AD8F-B3BFDC29EC33}"/>
              </a:ext>
            </a:extLst>
          </p:cNvPr>
          <p:cNvSpPr/>
          <p:nvPr/>
        </p:nvSpPr>
        <p:spPr>
          <a:xfrm>
            <a:off x="832338" y="462116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1. (12 points)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浮點數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(IEEE 754)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，參考下圖，執行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-1.1101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×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zh-TW" kern="1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n-US" altLang="zh-TW" kern="100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1.1011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×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zh-TW" kern="1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7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若為單精準度浮點數，計算結果為何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?(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以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16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進制表示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若為倍精準度浮點數，計算結果為何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?(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以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16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進制表示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若為單精準度浮點數，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Big ALU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及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Small ALU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規格為何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若為倍精準度浮點數，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Big ALU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及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Small ALU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規格為何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Shift left or right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單元在單精準度浮點數計算過程中是否有執行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Increment or decrement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單元在倍精準度浮點數計算過程中是否有執行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215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215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753086D-4CA2-4513-AFB5-65DAF8159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307" y="8191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3" name="物件 2">
            <a:extLst>
              <a:ext uri="{FF2B5EF4-FFF2-40B4-BE49-F238E27FC236}">
                <a16:creationId xmlns:a16="http://schemas.microsoft.com/office/drawing/2014/main" id="{17159C6A-19D5-404C-A91C-CAACE9BAFC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7518476"/>
              </p:ext>
            </p:extLst>
          </p:nvPr>
        </p:nvGraphicFramePr>
        <p:xfrm>
          <a:off x="926123" y="478040"/>
          <a:ext cx="7504845" cy="5901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Visio" r:id="rId3" imgW="8360229" imgH="6574716" progId="Visio.Drawing.15">
                  <p:embed/>
                </p:oleObj>
              </mc:Choice>
              <mc:Fallback>
                <p:oleObj name="Visio" r:id="rId3" imgW="8360229" imgH="6574716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123" y="478040"/>
                        <a:ext cx="7504845" cy="59019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1041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67DDE99-2F7B-455D-96AB-2CA774A63A4A}"/>
              </a:ext>
            </a:extLst>
          </p:cNvPr>
          <p:cNvSpPr/>
          <p:nvPr/>
        </p:nvSpPr>
        <p:spPr>
          <a:xfrm>
            <a:off x="586153" y="399146"/>
            <a:ext cx="79365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2. (10 points)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浮點數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(IEEE 754)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A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單精準度浮點數表示正數的最大值及最小值為何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B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倍精準度浮點數表示正數的最大值及最小值為何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C 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單精準度浮點數中，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3x10</a:t>
            </a:r>
            <a:r>
              <a:rPr lang="en-US" altLang="zh-TW" kern="1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-38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是否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underflow?  3x10</a:t>
            </a:r>
            <a:r>
              <a:rPr lang="en-US" altLang="zh-TW" kern="1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38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是否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overflow?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D.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浮點數的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如何表示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浮點數的無限大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(infinity)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如何表示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E.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浮點數指數為何不使用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補數表示負數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804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763D6A1-2058-45CB-B12B-3934B7ABC97A}"/>
              </a:ext>
            </a:extLst>
          </p:cNvPr>
          <p:cNvSpPr/>
          <p:nvPr/>
        </p:nvSpPr>
        <p:spPr>
          <a:xfrm>
            <a:off x="492368" y="503312"/>
            <a:ext cx="68697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3. (10 points)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使用兩種不同方法執行有號數乘法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 1101 x 1011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51073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95E2A8B-B82A-4596-B72E-7AA81558AC10}"/>
              </a:ext>
            </a:extLst>
          </p:cNvPr>
          <p:cNvSpPr/>
          <p:nvPr/>
        </p:nvSpPr>
        <p:spPr>
          <a:xfrm>
            <a:off x="363416" y="298829"/>
            <a:ext cx="78427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4. (6 points)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－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280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以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16 bits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表示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以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補數表示其負數</a:t>
            </a:r>
          </a:p>
          <a:p>
            <a:pPr indent="304800"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A.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將此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16 bits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數字移至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8 bits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後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結果為何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304800"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B.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將此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16 bits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數字移至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32bits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後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結果為何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 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04800"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C.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承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小題，若此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32bits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置於記憶體位置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C0h, C1h, C2h, C3h,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說明使用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little-endian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及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big-endian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之差異。</a:t>
            </a:r>
          </a:p>
        </p:txBody>
      </p:sp>
    </p:spTree>
    <p:extLst>
      <p:ext uri="{BB962C8B-B14F-4D97-AF65-F5344CB8AC3E}">
        <p14:creationId xmlns:p14="http://schemas.microsoft.com/office/powerpoint/2010/main" val="35502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638CBD3-393A-4A5B-A919-76D3A6382D92}"/>
              </a:ext>
            </a:extLst>
          </p:cNvPr>
          <p:cNvSpPr/>
          <p:nvPr/>
        </p:nvSpPr>
        <p:spPr>
          <a:xfrm>
            <a:off x="492370" y="41170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5. (10 points) 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304800"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A.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簡扼說明積體電路製程之步驟。</a:t>
            </a:r>
          </a:p>
          <a:p>
            <a:pPr indent="304800"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B.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為何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MIPS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不適合做為計算機效能評估依據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122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6FF5ADB-949B-42DD-8E1F-F3BD7D8F4D12}"/>
              </a:ext>
            </a:extLst>
          </p:cNvPr>
          <p:cNvSpPr/>
          <p:nvPr/>
        </p:nvSpPr>
        <p:spPr>
          <a:xfrm>
            <a:off x="656491" y="392613"/>
            <a:ext cx="801858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6. (10 points)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有三個不同的處理器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P1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P2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P3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可執行相同的指令集。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P1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的時脈速率是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3GHz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CPI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是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1.6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P2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的時脈速率是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2.5GHz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CPI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是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1.2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P3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的時脈速率是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4GHz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CPI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是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2.5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P1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P2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P3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之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MIPS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各為若干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執行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480,000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個指令，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P1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P2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P3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各需多少時間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98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D9F5C2E-BBA9-4220-BB6B-F7B42B814304}"/>
              </a:ext>
            </a:extLst>
          </p:cNvPr>
          <p:cNvSpPr/>
          <p:nvPr/>
        </p:nvSpPr>
        <p:spPr>
          <a:xfrm>
            <a:off x="996461" y="459102"/>
            <a:ext cx="976532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7. (10 points) A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處理器為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Memory-Memory ISA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，有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50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個指令，每個指令皆有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種定址法，可定址之記憶體空間為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1M words(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一個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word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為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32bit)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，每個指令皆有兩個來源運算元及一個目的運算元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指令格式為 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altLang="zh-TW" b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OPcode</a:t>
            </a:r>
            <a:r>
              <a:rPr lang="en-US" altLang="zh-TW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 Addressing mode, DEST, SRC1, SRC2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</a:p>
          <a:p>
            <a:pPr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處理器為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Accumulator Machine ISA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，有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50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個指令，每個指令皆有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種定址法，可定址之記憶體空間為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1M words(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一個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word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為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32bit)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，每個指令只有一個目的運算元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指令格式為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altLang="zh-TW" b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OPcode</a:t>
            </a:r>
            <a:r>
              <a:rPr lang="en-US" altLang="zh-TW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 Addressing mode, Operand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處理器最小指令格式長度為多少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bit?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處理器的最小指令格式長度為多少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bit?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Memory-Memory ISA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有何缺點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Accumulator Machine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仍存在那些缺點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ISA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為何要有多種定址法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882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5450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50E1F2C-27A7-4266-B809-381745AF3A2C}"/>
              </a:ext>
            </a:extLst>
          </p:cNvPr>
          <p:cNvSpPr/>
          <p:nvPr/>
        </p:nvSpPr>
        <p:spPr>
          <a:xfrm>
            <a:off x="633046" y="439505"/>
            <a:ext cx="912055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8. (10 points)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參考下圖：</a:t>
            </a:r>
          </a:p>
          <a:p>
            <a:pPr indent="304800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A.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設計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Overflow detection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電路。 </a:t>
            </a:r>
          </a:p>
          <a:p>
            <a:pPr marL="304800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B.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設計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繪出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一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8 bits ALU,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具有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slt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(set on less than)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、零偵測功能及溢位，並以功能表方式表示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ALUop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與運算的關係。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ALUop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為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條線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Ainvert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Binvert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 Operation)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2050" name="Picture 3">
            <a:extLst>
              <a:ext uri="{FF2B5EF4-FFF2-40B4-BE49-F238E27FC236}">
                <a16:creationId xmlns:a16="http://schemas.microsoft.com/office/drawing/2014/main" id="{DD96C365-7BEF-4788-B7A0-8D53BDC14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97" t="14702" r="28894" b="43576"/>
          <a:stretch>
            <a:fillRect/>
          </a:stretch>
        </p:blipFill>
        <p:spPr bwMode="auto">
          <a:xfrm>
            <a:off x="790208" y="2091470"/>
            <a:ext cx="3784242" cy="2421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2">
            <a:extLst>
              <a:ext uri="{FF2B5EF4-FFF2-40B4-BE49-F238E27FC236}">
                <a16:creationId xmlns:a16="http://schemas.microsoft.com/office/drawing/2014/main" id="{B7F091CE-8DED-4876-AFD4-EFED2E418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9" t="16519" r="13181" b="8580"/>
          <a:stretch>
            <a:fillRect/>
          </a:stretch>
        </p:blipFill>
        <p:spPr bwMode="auto">
          <a:xfrm>
            <a:off x="5240216" y="2062161"/>
            <a:ext cx="4935415" cy="330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7305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C02A23E-BA54-4110-95B8-4E70D3D97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9" t="16519" r="13181" b="8580"/>
          <a:stretch>
            <a:fillRect/>
          </a:stretch>
        </p:blipFill>
        <p:spPr bwMode="auto">
          <a:xfrm>
            <a:off x="890954" y="725730"/>
            <a:ext cx="4935415" cy="330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767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8ACF41C-B703-40B4-B697-01CA8F10F9F8}"/>
              </a:ext>
            </a:extLst>
          </p:cNvPr>
          <p:cNvSpPr/>
          <p:nvPr/>
        </p:nvSpPr>
        <p:spPr>
          <a:xfrm>
            <a:off x="890954" y="521567"/>
            <a:ext cx="57091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9. (10 points)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參考下圖所附之硬體方塊及流程圖計算</a:t>
            </a:r>
          </a:p>
          <a:p>
            <a:pPr indent="304800"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A. 1101 X 1101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304800"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B. 00110101 / 0110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304800"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C. 01001000 / 1010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304800" algn="just">
              <a:spcAft>
                <a:spcPts val="0"/>
              </a:spcAft>
            </a:pP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列出每個步驟暫存器之內容與最後結果。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88663AF-5BBB-4D96-8D72-A7CD51685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1" t="39163" r="8191"/>
          <a:stretch>
            <a:fillRect/>
          </a:stretch>
        </p:blipFill>
        <p:spPr bwMode="auto">
          <a:xfrm>
            <a:off x="1237273" y="2800349"/>
            <a:ext cx="7728486" cy="3536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1491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F34F9DFC-4BAA-4173-8913-4964382FF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24" y="381487"/>
            <a:ext cx="5007703" cy="3873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7089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69ECEE3B-07F0-4C75-948C-30FE280B9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27" y="741729"/>
            <a:ext cx="5304140" cy="4521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199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3C2C2D2-E400-42BC-8117-2F0B4384D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27" y="741729"/>
            <a:ext cx="5304140" cy="4521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9870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02C312F-8AE3-4860-A9BF-2E8318C410B4}"/>
              </a:ext>
            </a:extLst>
          </p:cNvPr>
          <p:cNvSpPr/>
          <p:nvPr/>
        </p:nvSpPr>
        <p:spPr>
          <a:xfrm>
            <a:off x="691662" y="427782"/>
            <a:ext cx="817098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10. (8 points)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以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MISP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指令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slt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,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bne,beq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實現：</a:t>
            </a:r>
          </a:p>
          <a:p>
            <a:pPr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A. 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ble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if $s1 &lt;= $s2 then branch 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B. 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bge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if $s1 &gt;= $s2 then branch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304800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C. 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blt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if $s1 &lt; $s2 then branch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304800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D. 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bgt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if $s1 &gt; $s2 then branch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D31A341-0061-4D51-8F17-9E270B6D9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0" t="11884"/>
          <a:stretch>
            <a:fillRect/>
          </a:stretch>
        </p:blipFill>
        <p:spPr bwMode="ltGray">
          <a:xfrm>
            <a:off x="204054" y="2173531"/>
            <a:ext cx="8096773" cy="314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9418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4446F08-1341-49BA-8F8E-659762FB6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398463" y="634901"/>
            <a:ext cx="843280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C0C0C0"/>
                    </a:gs>
                    <a:gs pos="100000">
                      <a:schemeClr val="folHlink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642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D2D395A-5AE0-4B28-9B0C-8D59BD66E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396875" y="908050"/>
            <a:ext cx="8496300" cy="372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C0C0C0"/>
                    </a:gs>
                    <a:gs pos="100000">
                      <a:schemeClr val="folHlink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5844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C23CE8E-4262-45AF-B525-F332C14842B2}"/>
              </a:ext>
            </a:extLst>
          </p:cNvPr>
          <p:cNvSpPr/>
          <p:nvPr/>
        </p:nvSpPr>
        <p:spPr>
          <a:xfrm>
            <a:off x="211016" y="327136"/>
            <a:ext cx="113596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11. (15 points)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將下列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 code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翻成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MIPS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指令</a:t>
            </a:r>
          </a:p>
          <a:p>
            <a:pPr marL="457200" indent="-304800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A.  	if (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&lt;= 10) 	f</a:t>
            </a:r>
            <a:r>
              <a:rPr lang="zh-TW" alt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= g*2;</a:t>
            </a:r>
            <a:b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else    	f = g/2;      	//f, g, 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h,i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 j in $s0, $s1, $s2, $s3, $s4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304800"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9E4B2F-46DB-4D4B-A419-43C42317DB9C}"/>
              </a:ext>
            </a:extLst>
          </p:cNvPr>
          <p:cNvSpPr/>
          <p:nvPr/>
        </p:nvSpPr>
        <p:spPr>
          <a:xfrm>
            <a:off x="1077156" y="1791901"/>
            <a:ext cx="806684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	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slti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$t0, $s3, 11    //if $s3 &lt; 11, $t0 = 1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	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beq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 $t0, $0, ELSE   //if $t0 = 0, f = gx2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	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Sll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 $s0, $s1, 1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	j   EXIT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ELSE: 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Srl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 $s0, $s1, 1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EXIT:</a:t>
            </a:r>
          </a:p>
        </p:txBody>
      </p:sp>
    </p:spTree>
    <p:extLst>
      <p:ext uri="{BB962C8B-B14F-4D97-AF65-F5344CB8AC3E}">
        <p14:creationId xmlns:p14="http://schemas.microsoft.com/office/powerpoint/2010/main" val="2216775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FF43998-F65D-4C06-92AD-5C7F5AC90CAA}"/>
              </a:ext>
            </a:extLst>
          </p:cNvPr>
          <p:cNvSpPr/>
          <p:nvPr/>
        </p:nvSpPr>
        <p:spPr>
          <a:xfrm>
            <a:off x="468923" y="456925"/>
            <a:ext cx="98591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52400"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B.  while (D[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] &gt;= k+1)  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= i-1;    			//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in $s3, k in $s5, address of D in $s6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152400"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04E4DA-31E0-4A32-99BC-5485174CB177}"/>
              </a:ext>
            </a:extLst>
          </p:cNvPr>
          <p:cNvSpPr/>
          <p:nvPr/>
        </p:nvSpPr>
        <p:spPr>
          <a:xfrm>
            <a:off x="1077157" y="1791901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Loop: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sll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 $t1, $s3, 2</a:t>
            </a:r>
            <a:br>
              <a:rPr lang="en-US" altLang="zh-TW" dirty="0">
                <a:latin typeface="Lucida Console" pitchFamily="49" charset="0"/>
                <a:ea typeface="新細明體" charset="-120"/>
              </a:rPr>
            </a:br>
            <a:r>
              <a:rPr lang="en-US" altLang="zh-TW" dirty="0">
                <a:latin typeface="Lucida Console" pitchFamily="49" charset="0"/>
                <a:ea typeface="新細明體" charset="-120"/>
              </a:rPr>
              <a:t>      add  $t1, $t1, $s6</a:t>
            </a:r>
            <a:br>
              <a:rPr lang="en-US" altLang="zh-TW" dirty="0">
                <a:latin typeface="Lucida Console" pitchFamily="49" charset="0"/>
                <a:ea typeface="新細明體" charset="-120"/>
              </a:rPr>
            </a:br>
            <a:r>
              <a:rPr lang="en-US" altLang="zh-TW" dirty="0">
                <a:latin typeface="Lucida Console" pitchFamily="49" charset="0"/>
                <a:ea typeface="新細明體" charset="-120"/>
              </a:rPr>
              <a:t>     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lw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  $t0, 0($t1)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     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addi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$t2, $s5, 1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     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slt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 $t3, $t0, $t2</a:t>
            </a:r>
            <a:br>
              <a:rPr lang="en-US" altLang="zh-TW" dirty="0">
                <a:latin typeface="Lucida Console" pitchFamily="49" charset="0"/>
                <a:ea typeface="新細明體" charset="-120"/>
              </a:rPr>
            </a:br>
            <a:r>
              <a:rPr lang="en-US" altLang="zh-TW" dirty="0">
                <a:latin typeface="Lucida Console" pitchFamily="49" charset="0"/>
                <a:ea typeface="新細明體" charset="-120"/>
              </a:rPr>
              <a:t>     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bne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 $t3, $0, Exit</a:t>
            </a:r>
            <a:br>
              <a:rPr lang="en-US" altLang="zh-TW" dirty="0">
                <a:latin typeface="Lucida Console" pitchFamily="49" charset="0"/>
                <a:ea typeface="新細明體" charset="-120"/>
              </a:rPr>
            </a:br>
            <a:r>
              <a:rPr lang="en-US" altLang="zh-TW" dirty="0">
                <a:latin typeface="Lucida Console" pitchFamily="49" charset="0"/>
                <a:ea typeface="新細明體" charset="-120"/>
              </a:rPr>
              <a:t>     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addi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$s3, $s3, -1</a:t>
            </a:r>
            <a:br>
              <a:rPr lang="en-US" altLang="zh-TW" dirty="0">
                <a:latin typeface="Lucida Console" pitchFamily="49" charset="0"/>
                <a:ea typeface="新細明體" charset="-120"/>
              </a:rPr>
            </a:br>
            <a:r>
              <a:rPr lang="en-US" altLang="zh-TW" dirty="0">
                <a:latin typeface="Lucida Console" pitchFamily="49" charset="0"/>
                <a:ea typeface="新細明體" charset="-120"/>
              </a:rPr>
              <a:t>      j    Loop</a:t>
            </a:r>
            <a:br>
              <a:rPr lang="en-US" altLang="zh-TW" dirty="0">
                <a:latin typeface="Lucida Console" pitchFamily="49" charset="0"/>
                <a:ea typeface="新細明體" charset="-120"/>
              </a:rPr>
            </a:br>
            <a:r>
              <a:rPr lang="en-US" altLang="zh-TW" dirty="0">
                <a:latin typeface="Lucida Console" pitchFamily="49" charset="0"/>
                <a:ea typeface="新細明體" charset="-120"/>
              </a:rPr>
              <a:t>Exit: 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42341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A634357-4292-4035-9448-F75CCE9A9503}"/>
              </a:ext>
            </a:extLst>
          </p:cNvPr>
          <p:cNvSpPr/>
          <p:nvPr/>
        </p:nvSpPr>
        <p:spPr>
          <a:xfrm>
            <a:off x="375140" y="544178"/>
            <a:ext cx="109259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52400"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C.  A = C[4] &lt;&lt; 4							//A in $t1, address of C in $s1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152400"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E25FB7-148E-4735-B3E2-425B37DD055B}"/>
              </a:ext>
            </a:extLst>
          </p:cNvPr>
          <p:cNvSpPr/>
          <p:nvPr/>
        </p:nvSpPr>
        <p:spPr>
          <a:xfrm>
            <a:off x="1007164" y="173618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 err="1">
                <a:latin typeface="Lucida Console" pitchFamily="49" charset="0"/>
                <a:ea typeface="新細明體" charset="-120"/>
              </a:rPr>
              <a:t>Lw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 $t0, 16($S1)</a:t>
            </a:r>
          </a:p>
          <a:p>
            <a:r>
              <a:rPr lang="en-US" altLang="zh-TW" dirty="0" err="1">
                <a:latin typeface="Lucida Console" pitchFamily="49" charset="0"/>
                <a:ea typeface="新細明體" charset="-120"/>
              </a:rPr>
              <a:t>Sll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$t1, $t0, 4</a:t>
            </a:r>
          </a:p>
        </p:txBody>
      </p:sp>
    </p:spTree>
    <p:extLst>
      <p:ext uri="{BB962C8B-B14F-4D97-AF65-F5344CB8AC3E}">
        <p14:creationId xmlns:p14="http://schemas.microsoft.com/office/powerpoint/2010/main" val="28771984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EF7803F-F026-4933-A668-5B5A44D8AE8D}"/>
              </a:ext>
            </a:extLst>
          </p:cNvPr>
          <p:cNvSpPr/>
          <p:nvPr/>
        </p:nvSpPr>
        <p:spPr>
          <a:xfrm>
            <a:off x="152400" y="490754"/>
            <a:ext cx="116292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52400"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D.  A = C[4] &lt;&lt; 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						//I in $s2, A in $t1, address of C in $s1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152400"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ED26F1-3EBA-4134-8567-7B976F005DB9}"/>
              </a:ext>
            </a:extLst>
          </p:cNvPr>
          <p:cNvSpPr/>
          <p:nvPr/>
        </p:nvSpPr>
        <p:spPr>
          <a:xfrm>
            <a:off x="1007163" y="1736184"/>
            <a:ext cx="874939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     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Lw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 $t0, 16($S1)       //$t0 = c[4]  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      add $t2, $s2, $0       // $t2 =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i</a:t>
            </a:r>
            <a:endParaRPr lang="en-US" altLang="zh-TW" dirty="0">
              <a:latin typeface="Lucida Console" pitchFamily="49" charset="0"/>
              <a:ea typeface="新細明體" charset="-120"/>
            </a:endParaRP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Loop: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Beq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$t2, $0 , EXIT     // if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i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= 0, jump exit 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     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Sll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$t0, $t0, 1        //$t0 = $t0 &lt;&lt; 1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     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Addi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$t2,$t2, -1       // $t2 = $t2  - 1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	j loop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EXIT:	add $t1, $t0, $0      // A = c[4] &lt;&lt;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i</a:t>
            </a:r>
            <a:endParaRPr lang="en-US" altLang="zh-TW" dirty="0">
              <a:latin typeface="Lucida Console" pitchFamily="49" charset="0"/>
              <a:ea typeface="新細明體" charset="-120"/>
            </a:endParaRPr>
          </a:p>
          <a:p>
            <a:endParaRPr lang="en-US" altLang="zh-TW" dirty="0">
              <a:latin typeface="Lucida Console" pitchFamily="49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9823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BBAB9B5-96F8-4EAC-93AD-ABBA133737DB}"/>
              </a:ext>
            </a:extLst>
          </p:cNvPr>
          <p:cNvSpPr/>
          <p:nvPr/>
        </p:nvSpPr>
        <p:spPr>
          <a:xfrm>
            <a:off x="164123" y="460774"/>
            <a:ext cx="110548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"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E.  for (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= a; 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&gt; 0; 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--)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52400"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for (j = b; j&gt; 0; j--)    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762000" indent="152400"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D[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i+j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] = D[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i+j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] + 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+j; 			//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 j, a, b in $s1, $s2, $s3, $s4, address of D in $s5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2C7F98-C008-4F88-835C-37CD35984254}"/>
              </a:ext>
            </a:extLst>
          </p:cNvPr>
          <p:cNvSpPr/>
          <p:nvPr/>
        </p:nvSpPr>
        <p:spPr>
          <a:xfrm>
            <a:off x="723078" y="1703934"/>
            <a:ext cx="983247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	 add $s1,$s3, $0     //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i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= a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	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beq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$0, $0 TEST1    //jump test1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LOOP1 :add $s2, $s4, $0    // j = b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	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beq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$0, $0, TEST2  // jump test2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LOOP2 :add $t1, $s1, $s2  // $t1 =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i+j</a:t>
            </a:r>
            <a:endParaRPr lang="en-US" altLang="zh-TW" dirty="0">
              <a:latin typeface="Lucida Console" pitchFamily="49" charset="0"/>
              <a:ea typeface="新細明體" charset="-120"/>
            </a:endParaRP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	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sll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$t2, $t1, 2    // $t2 = $t1 x 4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 	 add $t2, $t2,$s5   // $t2 = &amp;D[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i+j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]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	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lw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 $t3, 0($t2)    // $t3 = D[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i+j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]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	 add $t3, $t3, $t1  //$t3 = D[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i+j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] +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i+j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	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sw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 $t3, 0($t2)    // D[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i+j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] = D[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i+j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] +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i+j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	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addi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$s2, $s2, -1  // j--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TEST2 :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bne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$s2, $0, LOOP2 // test j = 0? Jump loop2 if j != 0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	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addi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$s1, $s1, -1  //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i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-- </a:t>
            </a: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TEST1 :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bne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$S1, $0, LOOP1 // test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i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= 0? Jump loop1 if </a:t>
            </a:r>
            <a:r>
              <a:rPr lang="en-US" altLang="zh-TW" dirty="0" err="1">
                <a:latin typeface="Lucida Console" pitchFamily="49" charset="0"/>
                <a:ea typeface="新細明體" charset="-120"/>
              </a:rPr>
              <a:t>i</a:t>
            </a:r>
            <a:r>
              <a:rPr lang="en-US" altLang="zh-TW" dirty="0">
                <a:latin typeface="Lucida Console" pitchFamily="49" charset="0"/>
                <a:ea typeface="新細明體" charset="-120"/>
              </a:rPr>
              <a:t> != 0</a:t>
            </a:r>
          </a:p>
          <a:p>
            <a:endParaRPr lang="en-US" altLang="zh-TW" dirty="0">
              <a:latin typeface="Lucida Console" pitchFamily="49" charset="0"/>
              <a:ea typeface="新細明體" charset="-120"/>
            </a:endParaRPr>
          </a:p>
          <a:p>
            <a:r>
              <a:rPr lang="en-US" altLang="zh-TW" dirty="0">
                <a:latin typeface="Lucida Console" pitchFamily="49" charset="0"/>
                <a:ea typeface="新細明體" charset="-120"/>
              </a:rPr>
              <a:t>					      </a:t>
            </a:r>
          </a:p>
          <a:p>
            <a:endParaRPr lang="en-US" altLang="zh-TW" dirty="0">
              <a:latin typeface="Lucida Console" pitchFamily="49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98664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4160</TotalTime>
  <Words>1566</Words>
  <Application>Microsoft Office PowerPoint</Application>
  <PresentationFormat>寬螢幕</PresentationFormat>
  <Paragraphs>90</Paragraphs>
  <Slides>24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2" baseType="lpstr">
      <vt:lpstr>新細明體</vt:lpstr>
      <vt:lpstr>Arial</vt:lpstr>
      <vt:lpstr>Calibri</vt:lpstr>
      <vt:lpstr>Calibri Light</vt:lpstr>
      <vt:lpstr>Lucida Console</vt:lpstr>
      <vt:lpstr>Times New Roman</vt:lpstr>
      <vt:lpstr>Office 佈景主題</vt:lpstr>
      <vt:lpstr>Visio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hyshin</dc:creator>
  <cp:lastModifiedBy>hyshin</cp:lastModifiedBy>
  <cp:revision>23</cp:revision>
  <dcterms:created xsi:type="dcterms:W3CDTF">2023-10-27T10:00:47Z</dcterms:created>
  <dcterms:modified xsi:type="dcterms:W3CDTF">2023-10-30T08:31:41Z</dcterms:modified>
</cp:coreProperties>
</file>