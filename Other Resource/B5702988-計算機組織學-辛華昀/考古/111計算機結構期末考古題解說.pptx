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70" r:id="rId4"/>
    <p:sldId id="258" r:id="rId5"/>
    <p:sldId id="259" r:id="rId6"/>
    <p:sldId id="269" r:id="rId7"/>
    <p:sldId id="260" r:id="rId8"/>
    <p:sldId id="271" r:id="rId9"/>
    <p:sldId id="272" r:id="rId10"/>
    <p:sldId id="273" r:id="rId11"/>
    <p:sldId id="274" r:id="rId12"/>
    <p:sldId id="277" r:id="rId13"/>
    <p:sldId id="278" r:id="rId14"/>
    <p:sldId id="279" r:id="rId15"/>
    <p:sldId id="280" r:id="rId16"/>
    <p:sldId id="281" r:id="rId17"/>
    <p:sldId id="261" r:id="rId18"/>
    <p:sldId id="262" r:id="rId19"/>
    <p:sldId id="282" r:id="rId20"/>
    <p:sldId id="264" r:id="rId21"/>
    <p:sldId id="265" r:id="rId22"/>
    <p:sldId id="266" r:id="rId23"/>
    <p:sldId id="267" r:id="rId24"/>
    <p:sldId id="268" r:id="rId2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>
        <p:scale>
          <a:sx n="125" d="100"/>
          <a:sy n="125" d="100"/>
        </p:scale>
        <p:origin x="1512" y="9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F968-D040-4C7D-B0EC-4A25009F7F53}" type="datetimeFigureOut">
              <a:rPr lang="zh-TW" altLang="en-US" smtClean="0"/>
              <a:t>2023/12/17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6D00-4692-4A91-BCF2-938E56A59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96431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F968-D040-4C7D-B0EC-4A25009F7F53}" type="datetimeFigureOut">
              <a:rPr lang="zh-TW" altLang="en-US" smtClean="0"/>
              <a:t>2023/12/17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6D00-4692-4A91-BCF2-938E56A59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339616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F968-D040-4C7D-B0EC-4A25009F7F53}" type="datetimeFigureOut">
              <a:rPr lang="zh-TW" altLang="en-US" smtClean="0"/>
              <a:t>2023/12/17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6D00-4692-4A91-BCF2-938E56A59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548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F968-D040-4C7D-B0EC-4A25009F7F53}" type="datetimeFigureOut">
              <a:rPr lang="zh-TW" altLang="en-US" smtClean="0"/>
              <a:t>2023/12/17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6D00-4692-4A91-BCF2-938E56A59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68507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F968-D040-4C7D-B0EC-4A25009F7F53}" type="datetimeFigureOut">
              <a:rPr lang="zh-TW" altLang="en-US" smtClean="0"/>
              <a:t>2023/12/17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6D00-4692-4A91-BCF2-938E56A59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6386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F968-D040-4C7D-B0EC-4A25009F7F53}" type="datetimeFigureOut">
              <a:rPr lang="zh-TW" altLang="en-US" smtClean="0"/>
              <a:t>2023/12/17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6D00-4692-4A91-BCF2-938E56A59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4578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F968-D040-4C7D-B0EC-4A25009F7F53}" type="datetimeFigureOut">
              <a:rPr lang="zh-TW" altLang="en-US" smtClean="0"/>
              <a:t>2023/12/17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6D00-4692-4A91-BCF2-938E56A59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940430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F968-D040-4C7D-B0EC-4A25009F7F53}" type="datetimeFigureOut">
              <a:rPr lang="zh-TW" altLang="en-US" smtClean="0"/>
              <a:t>2023/12/17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6D00-4692-4A91-BCF2-938E56A59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8550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F968-D040-4C7D-B0EC-4A25009F7F53}" type="datetimeFigureOut">
              <a:rPr lang="zh-TW" altLang="en-US" smtClean="0"/>
              <a:t>2023/12/17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6D00-4692-4A91-BCF2-938E56A59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3275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F968-D040-4C7D-B0EC-4A25009F7F53}" type="datetimeFigureOut">
              <a:rPr lang="zh-TW" altLang="en-US" smtClean="0"/>
              <a:t>2023/12/17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6D00-4692-4A91-BCF2-938E56A59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80715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89F968-D040-4C7D-B0EC-4A25009F7F53}" type="datetimeFigureOut">
              <a:rPr lang="zh-TW" altLang="en-US" smtClean="0"/>
              <a:t>2023/12/17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566D00-4692-4A91-BCF2-938E56A59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0147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89F968-D040-4C7D-B0EC-4A25009F7F53}" type="datetimeFigureOut">
              <a:rPr lang="zh-TW" altLang="en-US" smtClean="0"/>
              <a:t>2023/12/17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66D00-4692-4A91-BCF2-938E56A590C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72407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99" y="377745"/>
            <a:ext cx="8723375" cy="614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0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400" y="368506"/>
            <a:ext cx="9676103" cy="6104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0534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24" y="80301"/>
            <a:ext cx="10634180" cy="6694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358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" y="298100"/>
            <a:ext cx="11213541" cy="205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43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927" y="344525"/>
            <a:ext cx="11220418" cy="151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8905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1802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71" y="472788"/>
            <a:ext cx="11070076" cy="261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59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44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606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70136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46089" y="162467"/>
            <a:ext cx="5320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0, 4, 16, 132, 232, 160, 1024, 30, 140,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2048,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1028, 136 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1234666"/>
              </p:ext>
            </p:extLst>
          </p:nvPr>
        </p:nvGraphicFramePr>
        <p:xfrm>
          <a:off x="2032000" y="719666"/>
          <a:ext cx="65024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33">
                  <a:extLst>
                    <a:ext uri="{9D8B030D-6E8A-4147-A177-3AD203B41FA5}">
                      <a16:colId xmlns:a16="http://schemas.microsoft.com/office/drawing/2014/main" val="38802650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62276881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23262532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38846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address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Hit/miss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52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9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68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195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14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000000111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14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000000101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4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000100000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56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111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11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84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2048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001000000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174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000100000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8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711939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916018" y="5674268"/>
            <a:ext cx="3764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kern="100" dirty="0">
                <a:latin typeface="Times New Roman" panose="02020603050405020304" pitchFamily="18" charset="0"/>
              </a:rPr>
              <a:t>Direct-mapping </a:t>
            </a:r>
            <a:r>
              <a:rPr lang="en-US" altLang="zh-TW" kern="100" dirty="0" smtClean="0">
                <a:latin typeface="Times New Roman" panose="02020603050405020304" pitchFamily="18" charset="0"/>
              </a:rPr>
              <a:t>cache</a:t>
            </a:r>
            <a:r>
              <a:rPr lang="zh-TW" altLang="en-US" kern="100" dirty="0" smtClean="0">
                <a:latin typeface="Times New Roman" panose="02020603050405020304" pitchFamily="18" charset="0"/>
              </a:rPr>
              <a:t>：</a:t>
            </a:r>
            <a:r>
              <a:rPr lang="en-US" altLang="zh-TW" kern="100" dirty="0" smtClean="0">
                <a:latin typeface="Times New Roman" panose="02020603050405020304" pitchFamily="18" charset="0"/>
              </a:rPr>
              <a:t>hit rate = 6/12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18636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46089" y="162467"/>
            <a:ext cx="5320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0, 4, 16, 132, 232, 160, 1024, 30, 140, 2048, 1028, 136 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337568"/>
              </p:ext>
            </p:extLst>
          </p:nvPr>
        </p:nvGraphicFramePr>
        <p:xfrm>
          <a:off x="2032000" y="719666"/>
          <a:ext cx="8128001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238">
                  <a:extLst>
                    <a:ext uri="{9D8B030D-6E8A-4147-A177-3AD203B41FA5}">
                      <a16:colId xmlns:a16="http://schemas.microsoft.com/office/drawing/2014/main" val="3880265051"/>
                    </a:ext>
                  </a:extLst>
                </a:gridCol>
                <a:gridCol w="2772229">
                  <a:extLst>
                    <a:ext uri="{9D8B030D-6E8A-4147-A177-3AD203B41FA5}">
                      <a16:colId xmlns:a16="http://schemas.microsoft.com/office/drawing/2014/main" val="2462276881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326253297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283854891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91370466"/>
                    </a:ext>
                  </a:extLst>
                </a:gridCol>
                <a:gridCol w="807358">
                  <a:extLst>
                    <a:ext uri="{9D8B030D-6E8A-4147-A177-3AD203B41FA5}">
                      <a16:colId xmlns:a16="http://schemas.microsoft.com/office/drawing/2014/main" val="140598859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38846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address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Hit/miss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52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9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68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195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14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0000111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14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0000101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4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0100000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56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111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11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84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2048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174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0100000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8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711939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916018" y="5674268"/>
            <a:ext cx="3927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4 way associative cache</a:t>
            </a:r>
            <a:r>
              <a:rPr lang="zh-TW" altLang="en-US" kern="100" dirty="0" smtClean="0">
                <a:latin typeface="Times New Roman" panose="02020603050405020304" pitchFamily="18" charset="0"/>
              </a:rPr>
              <a:t>：</a:t>
            </a:r>
            <a:r>
              <a:rPr lang="en-US" altLang="zh-TW" kern="100" dirty="0" smtClean="0">
                <a:latin typeface="Times New Roman" panose="02020603050405020304" pitchFamily="18" charset="0"/>
              </a:rPr>
              <a:t>hit rate = 6/12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205064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46089" y="162467"/>
            <a:ext cx="5320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0, 4, 16, 132, 232, 160, 1024, 30, 140, 2048, 1028, 136 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6584051"/>
              </p:ext>
            </p:extLst>
          </p:nvPr>
        </p:nvGraphicFramePr>
        <p:xfrm>
          <a:off x="2032000" y="719666"/>
          <a:ext cx="8128001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5238">
                  <a:extLst>
                    <a:ext uri="{9D8B030D-6E8A-4147-A177-3AD203B41FA5}">
                      <a16:colId xmlns:a16="http://schemas.microsoft.com/office/drawing/2014/main" val="3880265051"/>
                    </a:ext>
                  </a:extLst>
                </a:gridCol>
                <a:gridCol w="2772229">
                  <a:extLst>
                    <a:ext uri="{9D8B030D-6E8A-4147-A177-3AD203B41FA5}">
                      <a16:colId xmlns:a16="http://schemas.microsoft.com/office/drawing/2014/main" val="2462276881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326253297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283854891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91370466"/>
                    </a:ext>
                  </a:extLst>
                </a:gridCol>
                <a:gridCol w="807358">
                  <a:extLst>
                    <a:ext uri="{9D8B030D-6E8A-4147-A177-3AD203B41FA5}">
                      <a16:colId xmlns:a16="http://schemas.microsoft.com/office/drawing/2014/main" val="140598859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38846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address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Hit/miss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52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9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68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195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14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000000000000111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14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000000000000101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4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1024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000000000100000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56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111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11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84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2048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000000001000000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174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000000000100000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8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711939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916018" y="5674268"/>
            <a:ext cx="390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fully associative </a:t>
            </a:r>
            <a:r>
              <a:rPr lang="en-US" altLang="zh-TW" dirty="0" smtClean="0"/>
              <a:t>cache</a:t>
            </a:r>
            <a:r>
              <a:rPr lang="zh-TW" altLang="en-US" kern="100" dirty="0" smtClean="0">
                <a:latin typeface="Times New Roman" panose="02020603050405020304" pitchFamily="18" charset="0"/>
              </a:rPr>
              <a:t>：</a:t>
            </a:r>
            <a:r>
              <a:rPr lang="en-US" altLang="zh-TW" kern="100" dirty="0" smtClean="0">
                <a:latin typeface="Times New Roman" panose="02020603050405020304" pitchFamily="18" charset="0"/>
              </a:rPr>
              <a:t>hit rate = 6/12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435939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46089" y="162467"/>
            <a:ext cx="54361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0, 4, 16, 132, 232, 160,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16384,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30, 140,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2048,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1028, 136 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866976"/>
              </p:ext>
            </p:extLst>
          </p:nvPr>
        </p:nvGraphicFramePr>
        <p:xfrm>
          <a:off x="2032000" y="719666"/>
          <a:ext cx="65024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33">
                  <a:extLst>
                    <a:ext uri="{9D8B030D-6E8A-4147-A177-3AD203B41FA5}">
                      <a16:colId xmlns:a16="http://schemas.microsoft.com/office/drawing/2014/main" val="388026505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62276881"/>
                    </a:ext>
                  </a:extLst>
                </a:gridCol>
                <a:gridCol w="1316567">
                  <a:extLst>
                    <a:ext uri="{9D8B030D-6E8A-4147-A177-3AD203B41FA5}">
                      <a16:colId xmlns:a16="http://schemas.microsoft.com/office/drawing/2014/main" val="232625329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38846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address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Hit/miss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52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9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68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195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14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000000111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14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000000101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4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16384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000001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56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111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11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84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2048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001000000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174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000100000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8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711939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916018" y="5674268"/>
            <a:ext cx="37641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kern="100" dirty="0">
                <a:latin typeface="Times New Roman" panose="02020603050405020304" pitchFamily="18" charset="0"/>
              </a:rPr>
              <a:t>Direct-mapping </a:t>
            </a:r>
            <a:r>
              <a:rPr lang="en-US" altLang="zh-TW" kern="100" dirty="0" smtClean="0">
                <a:latin typeface="Times New Roman" panose="02020603050405020304" pitchFamily="18" charset="0"/>
              </a:rPr>
              <a:t>cache</a:t>
            </a:r>
            <a:r>
              <a:rPr lang="zh-TW" altLang="en-US" kern="100" dirty="0" smtClean="0">
                <a:latin typeface="Times New Roman" panose="02020603050405020304" pitchFamily="18" charset="0"/>
              </a:rPr>
              <a:t>：</a:t>
            </a:r>
            <a:r>
              <a:rPr lang="en-US" altLang="zh-TW" kern="100" dirty="0" smtClean="0">
                <a:latin typeface="Times New Roman" panose="02020603050405020304" pitchFamily="18" charset="0"/>
              </a:rPr>
              <a:t>hit rate = 4/12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707964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46089" y="162467"/>
            <a:ext cx="54361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0, 4, 16, 132, 232, 160,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16384,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30, 140, 2048, 1028, 136 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439845"/>
              </p:ext>
            </p:extLst>
          </p:nvPr>
        </p:nvGraphicFramePr>
        <p:xfrm>
          <a:off x="2032000" y="719666"/>
          <a:ext cx="8128001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733">
                  <a:extLst>
                    <a:ext uri="{9D8B030D-6E8A-4147-A177-3AD203B41FA5}">
                      <a16:colId xmlns:a16="http://schemas.microsoft.com/office/drawing/2014/main" val="3880265051"/>
                    </a:ext>
                  </a:extLst>
                </a:gridCol>
                <a:gridCol w="2607734">
                  <a:extLst>
                    <a:ext uri="{9D8B030D-6E8A-4147-A177-3AD203B41FA5}">
                      <a16:colId xmlns:a16="http://schemas.microsoft.com/office/drawing/2014/main" val="2462276881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326253297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283854891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91370466"/>
                    </a:ext>
                  </a:extLst>
                </a:gridCol>
                <a:gridCol w="807358">
                  <a:extLst>
                    <a:ext uri="{9D8B030D-6E8A-4147-A177-3AD203B41FA5}">
                      <a16:colId xmlns:a16="http://schemas.microsoft.com/office/drawing/2014/main" val="140598859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38846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address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Hit/miss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52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9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68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195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14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0000111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14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0000101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4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16384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00000100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56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111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11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84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2048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1000000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174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0100000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8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</a:t>
                      </a:r>
                      <a:r>
                        <a:rPr lang="en-US" altLang="zh-TW" dirty="0" smtClean="0">
                          <a:solidFill>
                            <a:srgbClr val="FF0000"/>
                          </a:solidFill>
                        </a:rPr>
                        <a:t>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711939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916018" y="5674268"/>
            <a:ext cx="39273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4 way associative cache</a:t>
            </a:r>
            <a:r>
              <a:rPr lang="zh-TW" altLang="en-US" kern="100" dirty="0" smtClean="0">
                <a:latin typeface="Times New Roman" panose="02020603050405020304" pitchFamily="18" charset="0"/>
              </a:rPr>
              <a:t>：</a:t>
            </a:r>
            <a:r>
              <a:rPr lang="en-US" altLang="zh-TW" kern="100" dirty="0" smtClean="0">
                <a:latin typeface="Times New Roman" panose="02020603050405020304" pitchFamily="18" charset="0"/>
              </a:rPr>
              <a:t>hit rate = 5/12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41674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246089" y="162467"/>
            <a:ext cx="54361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0, 4, 16, 132, 232, 160, </a:t>
            </a:r>
            <a:r>
              <a:rPr lang="en-US" altLang="zh-TW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16384, </a:t>
            </a:r>
            <a:r>
              <a:rPr lang="en-US" altLang="zh-TW" dirty="0">
                <a:solidFill>
                  <a:srgbClr val="000000"/>
                </a:solidFill>
                <a:latin typeface="Times New Roman" panose="02020603050405020304" pitchFamily="18" charset="0"/>
              </a:rPr>
              <a:t>30, 140, 2048, 1028, 136 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844664"/>
              </p:ext>
            </p:extLst>
          </p:nvPr>
        </p:nvGraphicFramePr>
        <p:xfrm>
          <a:off x="2032000" y="719666"/>
          <a:ext cx="8128001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0100">
                  <a:extLst>
                    <a:ext uri="{9D8B030D-6E8A-4147-A177-3AD203B41FA5}">
                      <a16:colId xmlns:a16="http://schemas.microsoft.com/office/drawing/2014/main" val="3880265051"/>
                    </a:ext>
                  </a:extLst>
                </a:gridCol>
                <a:gridCol w="2637367">
                  <a:extLst>
                    <a:ext uri="{9D8B030D-6E8A-4147-A177-3AD203B41FA5}">
                      <a16:colId xmlns:a16="http://schemas.microsoft.com/office/drawing/2014/main" val="2462276881"/>
                    </a:ext>
                  </a:extLst>
                </a:gridCol>
                <a:gridCol w="901700">
                  <a:extLst>
                    <a:ext uri="{9D8B030D-6E8A-4147-A177-3AD203B41FA5}">
                      <a16:colId xmlns:a16="http://schemas.microsoft.com/office/drawing/2014/main" val="2326253297"/>
                    </a:ext>
                  </a:extLst>
                </a:gridCol>
                <a:gridCol w="905933">
                  <a:extLst>
                    <a:ext uri="{9D8B030D-6E8A-4147-A177-3AD203B41FA5}">
                      <a16:colId xmlns:a16="http://schemas.microsoft.com/office/drawing/2014/main" val="283854891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591370466"/>
                    </a:ext>
                  </a:extLst>
                </a:gridCol>
                <a:gridCol w="807358">
                  <a:extLst>
                    <a:ext uri="{9D8B030D-6E8A-4147-A177-3AD203B41FA5}">
                      <a16:colId xmlns:a16="http://schemas.microsoft.com/office/drawing/2014/main" val="140598859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4388465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address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Hit/miss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9526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0091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46895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6195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3914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232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000000000000111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6140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000000000000101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90411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16384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000001000000000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564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30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111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411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140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84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2048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000000001000000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miss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174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1028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000000000100000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001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287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136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000000000000100</a:t>
                      </a:r>
                      <a:r>
                        <a:rPr lang="en-US" altLang="zh-TW" dirty="0" smtClean="0">
                          <a:solidFill>
                            <a:srgbClr val="00B0F0"/>
                          </a:solidFill>
                        </a:rPr>
                        <a:t>010</a:t>
                      </a:r>
                      <a:r>
                        <a:rPr lang="en-US" altLang="zh-TW" dirty="0" smtClean="0">
                          <a:solidFill>
                            <a:schemeClr val="tx1"/>
                          </a:solidFill>
                        </a:rPr>
                        <a:t>00</a:t>
                      </a:r>
                      <a:endParaRPr lang="zh-TW" alt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hit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711939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916018" y="5674268"/>
            <a:ext cx="390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fully associative </a:t>
            </a:r>
            <a:r>
              <a:rPr lang="en-US" altLang="zh-TW" dirty="0" smtClean="0"/>
              <a:t>cache</a:t>
            </a:r>
            <a:r>
              <a:rPr lang="zh-TW" altLang="en-US" kern="100" dirty="0" smtClean="0">
                <a:latin typeface="Times New Roman" panose="02020603050405020304" pitchFamily="18" charset="0"/>
              </a:rPr>
              <a:t>：</a:t>
            </a:r>
            <a:r>
              <a:rPr lang="en-US" altLang="zh-TW" kern="100" dirty="0" smtClean="0">
                <a:latin typeface="Times New Roman" panose="02020603050405020304" pitchFamily="18" charset="0"/>
              </a:rPr>
              <a:t>hit rate = 6/12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260810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68" y="933854"/>
            <a:ext cx="11707525" cy="449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1156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353" y="369291"/>
            <a:ext cx="11268330" cy="3191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9874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906406"/>
              </p:ext>
            </p:extLst>
          </p:nvPr>
        </p:nvGraphicFramePr>
        <p:xfrm>
          <a:off x="1553632" y="2616198"/>
          <a:ext cx="7933904" cy="1933736"/>
        </p:xfrm>
        <a:graphic>
          <a:graphicData uri="http://schemas.openxmlformats.org/drawingml/2006/table">
            <a:tbl>
              <a:tblPr firstRow="1" firstCol="1" bandRow="1"/>
              <a:tblGrid>
                <a:gridCol w="962586">
                  <a:extLst>
                    <a:ext uri="{9D8B030D-6E8A-4147-A177-3AD203B41FA5}">
                      <a16:colId xmlns:a16="http://schemas.microsoft.com/office/drawing/2014/main" val="3928831823"/>
                    </a:ext>
                  </a:extLst>
                </a:gridCol>
                <a:gridCol w="773930">
                  <a:extLst>
                    <a:ext uri="{9D8B030D-6E8A-4147-A177-3AD203B41FA5}">
                      <a16:colId xmlns:a16="http://schemas.microsoft.com/office/drawing/2014/main" val="3909096236"/>
                    </a:ext>
                  </a:extLst>
                </a:gridCol>
                <a:gridCol w="773930">
                  <a:extLst>
                    <a:ext uri="{9D8B030D-6E8A-4147-A177-3AD203B41FA5}">
                      <a16:colId xmlns:a16="http://schemas.microsoft.com/office/drawing/2014/main" val="1686682985"/>
                    </a:ext>
                  </a:extLst>
                </a:gridCol>
                <a:gridCol w="773930">
                  <a:extLst>
                    <a:ext uri="{9D8B030D-6E8A-4147-A177-3AD203B41FA5}">
                      <a16:colId xmlns:a16="http://schemas.microsoft.com/office/drawing/2014/main" val="3236564812"/>
                    </a:ext>
                  </a:extLst>
                </a:gridCol>
                <a:gridCol w="774674">
                  <a:extLst>
                    <a:ext uri="{9D8B030D-6E8A-4147-A177-3AD203B41FA5}">
                      <a16:colId xmlns:a16="http://schemas.microsoft.com/office/drawing/2014/main" val="2177673098"/>
                    </a:ext>
                  </a:extLst>
                </a:gridCol>
                <a:gridCol w="774674">
                  <a:extLst>
                    <a:ext uri="{9D8B030D-6E8A-4147-A177-3AD203B41FA5}">
                      <a16:colId xmlns:a16="http://schemas.microsoft.com/office/drawing/2014/main" val="259561239"/>
                    </a:ext>
                  </a:extLst>
                </a:gridCol>
                <a:gridCol w="774674">
                  <a:extLst>
                    <a:ext uri="{9D8B030D-6E8A-4147-A177-3AD203B41FA5}">
                      <a16:colId xmlns:a16="http://schemas.microsoft.com/office/drawing/2014/main" val="28288825"/>
                    </a:ext>
                  </a:extLst>
                </a:gridCol>
                <a:gridCol w="774674">
                  <a:extLst>
                    <a:ext uri="{9D8B030D-6E8A-4147-A177-3AD203B41FA5}">
                      <a16:colId xmlns:a16="http://schemas.microsoft.com/office/drawing/2014/main" val="4136287366"/>
                    </a:ext>
                  </a:extLst>
                </a:gridCol>
                <a:gridCol w="775416">
                  <a:extLst>
                    <a:ext uri="{9D8B030D-6E8A-4147-A177-3AD203B41FA5}">
                      <a16:colId xmlns:a16="http://schemas.microsoft.com/office/drawing/2014/main" val="1562110669"/>
                    </a:ext>
                  </a:extLst>
                </a:gridCol>
                <a:gridCol w="775416">
                  <a:extLst>
                    <a:ext uri="{9D8B030D-6E8A-4147-A177-3AD203B41FA5}">
                      <a16:colId xmlns:a16="http://schemas.microsoft.com/office/drawing/2014/main" val="2271513259"/>
                    </a:ext>
                  </a:extLst>
                </a:gridCol>
              </a:tblGrid>
              <a:tr h="2762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Clcok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9319267"/>
                  </a:ext>
                </a:extLst>
              </a:tr>
              <a:tr h="2762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RegDst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ED7D3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X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X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1764804"/>
                  </a:ext>
                </a:extLst>
              </a:tr>
              <a:tr h="2762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ALUSrc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ED7D3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8010937"/>
                  </a:ext>
                </a:extLst>
              </a:tr>
              <a:tr h="2762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MemRead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ED7D3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600762"/>
                  </a:ext>
                </a:extLst>
              </a:tr>
              <a:tr h="2762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MemWrite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ED7D3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3129605"/>
                  </a:ext>
                </a:extLst>
              </a:tr>
              <a:tr h="2762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RegWrite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ED7D3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4131543"/>
                  </a:ext>
                </a:extLst>
              </a:tr>
              <a:tr h="276248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MemtoReg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5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F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ED7D31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X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7030A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X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48375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471654"/>
              </p:ext>
            </p:extLst>
          </p:nvPr>
        </p:nvGraphicFramePr>
        <p:xfrm>
          <a:off x="1553633" y="419099"/>
          <a:ext cx="7933902" cy="1601010"/>
        </p:xfrm>
        <a:graphic>
          <a:graphicData uri="http://schemas.openxmlformats.org/drawingml/2006/table">
            <a:tbl>
              <a:tblPr firstRow="1" firstCol="1" bandRow="1"/>
              <a:tblGrid>
                <a:gridCol w="962585">
                  <a:extLst>
                    <a:ext uri="{9D8B030D-6E8A-4147-A177-3AD203B41FA5}">
                      <a16:colId xmlns:a16="http://schemas.microsoft.com/office/drawing/2014/main" val="725716556"/>
                    </a:ext>
                  </a:extLst>
                </a:gridCol>
                <a:gridCol w="773931">
                  <a:extLst>
                    <a:ext uri="{9D8B030D-6E8A-4147-A177-3AD203B41FA5}">
                      <a16:colId xmlns:a16="http://schemas.microsoft.com/office/drawing/2014/main" val="2121208888"/>
                    </a:ext>
                  </a:extLst>
                </a:gridCol>
                <a:gridCol w="773931">
                  <a:extLst>
                    <a:ext uri="{9D8B030D-6E8A-4147-A177-3AD203B41FA5}">
                      <a16:colId xmlns:a16="http://schemas.microsoft.com/office/drawing/2014/main" val="3413410621"/>
                    </a:ext>
                  </a:extLst>
                </a:gridCol>
                <a:gridCol w="773931">
                  <a:extLst>
                    <a:ext uri="{9D8B030D-6E8A-4147-A177-3AD203B41FA5}">
                      <a16:colId xmlns:a16="http://schemas.microsoft.com/office/drawing/2014/main" val="1553055584"/>
                    </a:ext>
                  </a:extLst>
                </a:gridCol>
                <a:gridCol w="774673">
                  <a:extLst>
                    <a:ext uri="{9D8B030D-6E8A-4147-A177-3AD203B41FA5}">
                      <a16:colId xmlns:a16="http://schemas.microsoft.com/office/drawing/2014/main" val="955016067"/>
                    </a:ext>
                  </a:extLst>
                </a:gridCol>
                <a:gridCol w="774673">
                  <a:extLst>
                    <a:ext uri="{9D8B030D-6E8A-4147-A177-3AD203B41FA5}">
                      <a16:colId xmlns:a16="http://schemas.microsoft.com/office/drawing/2014/main" val="977739234"/>
                    </a:ext>
                  </a:extLst>
                </a:gridCol>
                <a:gridCol w="774673">
                  <a:extLst>
                    <a:ext uri="{9D8B030D-6E8A-4147-A177-3AD203B41FA5}">
                      <a16:colId xmlns:a16="http://schemas.microsoft.com/office/drawing/2014/main" val="2655381959"/>
                    </a:ext>
                  </a:extLst>
                </a:gridCol>
                <a:gridCol w="774673">
                  <a:extLst>
                    <a:ext uri="{9D8B030D-6E8A-4147-A177-3AD203B41FA5}">
                      <a16:colId xmlns:a16="http://schemas.microsoft.com/office/drawing/2014/main" val="107687437"/>
                    </a:ext>
                  </a:extLst>
                </a:gridCol>
                <a:gridCol w="775416">
                  <a:extLst>
                    <a:ext uri="{9D8B030D-6E8A-4147-A177-3AD203B41FA5}">
                      <a16:colId xmlns:a16="http://schemas.microsoft.com/office/drawing/2014/main" val="1514865381"/>
                    </a:ext>
                  </a:extLst>
                </a:gridCol>
                <a:gridCol w="775416">
                  <a:extLst>
                    <a:ext uri="{9D8B030D-6E8A-4147-A177-3AD203B41FA5}">
                      <a16:colId xmlns:a16="http://schemas.microsoft.com/office/drawing/2014/main" val="588019933"/>
                    </a:ext>
                  </a:extLst>
                </a:gridCol>
              </a:tblGrid>
              <a:tr h="2668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Clcok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395933"/>
                  </a:ext>
                </a:extLst>
              </a:tr>
              <a:tr h="2668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B05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sub IF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B05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sub ID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B05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sub ex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B05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sub Mem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B05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sub wr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5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F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C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936935"/>
                  </a:ext>
                </a:extLst>
              </a:tr>
              <a:tr h="2668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B0F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Lw IF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B0F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Lw ID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B0F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Lw ex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B0F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Lw Mem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00B0F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Lw wr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C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C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8603941"/>
                  </a:ext>
                </a:extLst>
              </a:tr>
              <a:tr h="2668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ED7D31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sw IF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ED7D31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sw ID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ED7D31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sw ex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ED7D31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sw Mem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ED7D31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sw wr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B0F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C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5079696"/>
                  </a:ext>
                </a:extLst>
              </a:tr>
              <a:tr h="2668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add IF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add ID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add ex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add Mem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add wr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4633919"/>
                  </a:ext>
                </a:extLst>
              </a:tr>
              <a:tr h="266835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0">
                          <a:solidFill>
                            <a:srgbClr val="FF000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beq IF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beq ID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beq ex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beq Mem</a:t>
                      </a:r>
                      <a:endParaRPr lang="zh-TW" sz="1400" kern="10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lang="en-US" sz="1400" kern="100" dirty="0" err="1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beq</a:t>
                      </a:r>
                      <a:r>
                        <a:rPr lang="en-US" sz="1400" kern="100" dirty="0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400" kern="100" dirty="0" err="1">
                          <a:solidFill>
                            <a:srgbClr val="7030A0"/>
                          </a:solidFill>
                          <a:effectLst/>
                          <a:latin typeface="標楷體" panose="03000509000000000000" pitchFamily="65" charset="-120"/>
                          <a:ea typeface="新細明體" panose="02020500000000000000" pitchFamily="18" charset="-120"/>
                          <a:cs typeface="Arial" panose="020B0604020202020204" pitchFamily="34" charset="0"/>
                        </a:rPr>
                        <a:t>wr</a:t>
                      </a:r>
                      <a:endParaRPr lang="zh-TW" sz="1400" kern="100" dirty="0"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14285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1962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247" y="333932"/>
            <a:ext cx="8763302" cy="6198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832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3" y="371795"/>
            <a:ext cx="11418042" cy="1681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5246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9014" y="601134"/>
            <a:ext cx="9122104" cy="5728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0286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" y="244944"/>
            <a:ext cx="12094173" cy="4281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368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5242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569</Words>
  <Application>Microsoft Office PowerPoint</Application>
  <PresentationFormat>寬螢幕</PresentationFormat>
  <Paragraphs>370</Paragraphs>
  <Slides>24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24</vt:i4>
      </vt:variant>
    </vt:vector>
  </HeadingPairs>
  <TitlesOfParts>
    <vt:vector size="31" baseType="lpstr">
      <vt:lpstr>新細明體</vt:lpstr>
      <vt:lpstr>標楷體</vt:lpstr>
      <vt:lpstr>Arial</vt:lpstr>
      <vt:lpstr>Calibri</vt:lpstr>
      <vt:lpstr>Calibri Light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SHIN</dc:creator>
  <cp:lastModifiedBy>SHIN</cp:lastModifiedBy>
  <cp:revision>13</cp:revision>
  <dcterms:created xsi:type="dcterms:W3CDTF">2023-12-17T11:46:23Z</dcterms:created>
  <dcterms:modified xsi:type="dcterms:W3CDTF">2023-12-17T13:28:31Z</dcterms:modified>
</cp:coreProperties>
</file>